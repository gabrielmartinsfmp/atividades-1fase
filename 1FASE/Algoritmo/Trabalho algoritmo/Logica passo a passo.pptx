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5FAD"/>
          </a:solidFill>
          <a:ln w="12700">
            <a:solidFill>
              <a:srgbClr val="2E5FA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0"/>
            <a:ext cx="54864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801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Logica Passo a Passo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</a:rPr>
              <a:t>Atividade de Algoritmo — Resolucao do Desafio Logico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4480560"/>
            <a:ext cx="804672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6E"/>
                </a:solidFill>
              </a:rPr>
              <a:t>5 Professores  •  5 Capitais  •  Chegadas 1993–1997  •  Partidas 1998–2002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Textos do Desafio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22960"/>
            <a:ext cx="420624" cy="420624"/>
          </a:xfrm>
          <a:prstGeom prst="roundRect">
            <a:avLst>
              <a:gd name="adj" fmla="val 13043"/>
            </a:avLst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22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877824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1A2A3A"/>
                </a:solidFill>
              </a:rPr>
              <a:t>Luiza viveu dois anos a menos em uma das capitais do que a pessoa que passou um tempo em Sao Paulo. Luiza nao viveu em Recife.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09160" y="822960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822960"/>
            <a:ext cx="420624" cy="420624"/>
          </a:xfrm>
          <a:prstGeom prst="roundRect">
            <a:avLst>
              <a:gd name="adj" fmla="val 13043"/>
            </a:avLst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822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166360" y="877824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1A2A3A"/>
                </a:solidFill>
              </a:rPr>
              <a:t>Renato morou durante tres anos no Rio de Janeiro.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2057400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057400"/>
            <a:ext cx="420624" cy="420624"/>
          </a:xfrm>
          <a:prstGeom prst="roundRect">
            <a:avLst>
              <a:gd name="adj" fmla="val 13043"/>
            </a:avLst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2112264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1A2A3A"/>
                </a:solidFill>
              </a:rPr>
              <a:t>A pessoa que foi para Maceio, que nao e Luiza, chegou a capital um ano antes da contratacao de Renato, mas um ano depois da pessoa cujo contrato terminou em 2001.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09160" y="2057400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057400"/>
            <a:ext cx="420624" cy="420624"/>
          </a:xfrm>
          <a:prstGeom prst="roundRect">
            <a:avLst>
              <a:gd name="adj" fmla="val 13043"/>
            </a:avLst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166360" y="2112264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1A2A3A"/>
                </a:solidFill>
              </a:rPr>
              <a:t>Joao deixou a capital um ano antes da pessoa que morou em Recife, mas um ano depois da pessoa contratada em 1995.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3291840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291840"/>
            <a:ext cx="420624" cy="420624"/>
          </a:xfrm>
          <a:prstGeom prst="roundRect">
            <a:avLst>
              <a:gd name="adj" fmla="val 13043"/>
            </a:avLst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2918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3346704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1A2A3A"/>
                </a:solidFill>
              </a:rPr>
              <a:t>A pessoa contratada ate 1999 (partida) chegou dois anos depois da pessoa que foi para Sao Paulo, mas um ano antes de Irene.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09160" y="3291840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3291840"/>
            <a:ext cx="420624" cy="420624"/>
          </a:xfrm>
          <a:prstGeom prst="roundRect">
            <a:avLst>
              <a:gd name="adj" fmla="val 13043"/>
            </a:avLst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32918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166360" y="3346704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1A2A3A"/>
                </a:solidFill>
              </a:rPr>
              <a:t>A pessoa que viveu em Curitiba (Luiza) chegou em 1993.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09728"/>
            <a:ext cx="914400" cy="438912"/>
          </a:xfrm>
          <a:prstGeom prst="roundRect">
            <a:avLst>
              <a:gd name="adj" fmla="val 16667"/>
            </a:avLst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A6E"/>
                </a:solidFill>
              </a:rPr>
              <a:t>PASSO 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25880" y="73152"/>
            <a:ext cx="7726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Primeiro Texto — Luiza e Sao Paulo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822960"/>
            <a:ext cx="45720" cy="731520"/>
          </a:xfrm>
          <a:prstGeom prst="rect">
            <a:avLst/>
          </a:prstGeom>
          <a:solidFill>
            <a:srgbClr val="2E5FAD"/>
          </a:solidFill>
          <a:ln w="12700">
            <a:solidFill>
              <a:srgbClr val="2E5FA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822960"/>
            <a:ext cx="4572000" cy="731520"/>
          </a:xfrm>
          <a:prstGeom prst="rect">
            <a:avLst/>
          </a:prstGeom>
          <a:solidFill>
            <a:srgbClr val="EBF2FB"/>
          </a:solidFill>
          <a:ln w="12700">
            <a:solidFill>
              <a:srgbClr val="EBF2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877824"/>
            <a:ext cx="43616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A2A3A"/>
                </a:solidFill>
              </a:rPr>
              <a:t>Luiza viveu dois anos a menos em uma das capitais do que a pessoa que passou um tempo em Sao Paulo. Luiza nao viveu em Recife.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1609344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5FAD"/>
                </a:solidFill>
              </a:rPr>
              <a:t>Interpretacoes: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1865376"/>
            <a:ext cx="4617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2A3A"/>
                </a:solidFill>
              </a:rPr>
              <a:t>Luiza viveu -2 anos de duracao comparado ao professor de Sao Paulo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2A3A"/>
                </a:solidFill>
              </a:rPr>
              <a:t>Luiza nao viveu em Sao Paulo (1 professor por capital)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2A3A"/>
                </a:solidFill>
              </a:rPr>
              <a:t>Luiza nao viveu em Recife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2A3A"/>
                </a:solidFill>
              </a:rPr>
              <a:t>Relacao de duracao sera resolvida no Passo 11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120640" y="822960"/>
            <a:ext cx="3703320" cy="4091940"/>
          </a:xfrm>
          <a:prstGeom prst="rect">
            <a:avLst/>
          </a:prstGeom>
          <a:solidFill>
            <a:srgbClr val="DDE6F1"/>
          </a:solidFill>
          <a:ln w="19050">
            <a:solidFill>
              <a:srgbClr val="9BBAD8"/>
            </a:solidFill>
            <a:prstDash val="sysDash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0" y="268605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56677"/>
                </a:solidFill>
              </a:rPr>
              <a:t>[ Print da Tabela — Passo 1 ]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09728"/>
            <a:ext cx="914400" cy="438912"/>
          </a:xfrm>
          <a:prstGeom prst="roundRect">
            <a:avLst>
              <a:gd name="adj" fmla="val 16667"/>
            </a:avLst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A6E"/>
                </a:solidFill>
              </a:rPr>
              <a:t>PASSO 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25880" y="73152"/>
            <a:ext cx="7726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Segundo Texto — Renato e Rio de Janeiro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822960"/>
            <a:ext cx="45720" cy="502920"/>
          </a:xfrm>
          <a:prstGeom prst="rect">
            <a:avLst/>
          </a:prstGeom>
          <a:solidFill>
            <a:srgbClr val="2E5FAD"/>
          </a:solidFill>
          <a:ln w="12700">
            <a:solidFill>
              <a:srgbClr val="2E5FA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822960"/>
            <a:ext cx="4572000" cy="502920"/>
          </a:xfrm>
          <a:prstGeom prst="rect">
            <a:avLst/>
          </a:prstGeom>
          <a:solidFill>
            <a:srgbClr val="EBF2FB"/>
          </a:solidFill>
          <a:ln w="12700">
            <a:solidFill>
              <a:srgbClr val="EBF2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877824"/>
            <a:ext cx="4361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A2A3A"/>
                </a:solidFill>
              </a:rPr>
              <a:t>Renato morou durante tres anos no Rio de Janeiro.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1389888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5FAD"/>
                </a:solidFill>
              </a:rPr>
              <a:t>Interpretacoes: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1645920"/>
            <a:ext cx="4617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2A3A"/>
                </a:solidFill>
              </a:rPr>
              <a:t>Renato = Rio de Janeiro (confirmado)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2A3A"/>
                </a:solidFill>
              </a:rPr>
              <a:t>Duracao de Renato = 3 anos  (Partida - Chegada = 3)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2A3A"/>
                </a:solidFill>
              </a:rPr>
              <a:t>Ao confirmar a capital de Renato, todas as demais linhas de Rio de Janeiro = FALSE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2A3A"/>
                </a:solidFill>
              </a:rPr>
              <a:t>A informacao dos 3 anos sera usada no Passo 8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120640" y="822960"/>
            <a:ext cx="3703320" cy="4091940"/>
          </a:xfrm>
          <a:prstGeom prst="rect">
            <a:avLst/>
          </a:prstGeom>
          <a:solidFill>
            <a:srgbClr val="DDE6F1"/>
          </a:solidFill>
          <a:ln w="19050">
            <a:solidFill>
              <a:srgbClr val="9BBAD8"/>
            </a:solidFill>
            <a:prstDash val="sysDash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0" y="268605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56677"/>
                </a:solidFill>
              </a:rPr>
              <a:t>[ Print da Tabela — Passo 2 ]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09728"/>
            <a:ext cx="914400" cy="438912"/>
          </a:xfrm>
          <a:prstGeom prst="roundRect">
            <a:avLst>
              <a:gd name="adj" fmla="val 16667"/>
            </a:avLst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A6E"/>
                </a:solidFill>
              </a:rPr>
              <a:t>PASSO 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25880" y="73152"/>
            <a:ext cx="7726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Terceiro Texto — Maceio e relacoes temporais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822960"/>
            <a:ext cx="45720" cy="713232"/>
          </a:xfrm>
          <a:prstGeom prst="rect">
            <a:avLst/>
          </a:prstGeom>
          <a:solidFill>
            <a:srgbClr val="2E5FAD"/>
          </a:solidFill>
          <a:ln w="12700">
            <a:solidFill>
              <a:srgbClr val="2E5FA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822960"/>
            <a:ext cx="4572000" cy="713232"/>
          </a:xfrm>
          <a:prstGeom prst="rect">
            <a:avLst/>
          </a:prstGeom>
          <a:solidFill>
            <a:srgbClr val="EBF2FB"/>
          </a:solidFill>
          <a:ln w="12700">
            <a:solidFill>
              <a:srgbClr val="EBF2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877824"/>
            <a:ext cx="43616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A2A3A"/>
                </a:solidFill>
              </a:rPr>
              <a:t>A pessoa que foi para Maceio, que nao e Luiza, chegou a capital um ano antes da contratacao de Renato, mas um ano depois da pessoa cujo contrato terminou em 2001.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1600200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5FAD"/>
                </a:solidFill>
              </a:rPr>
              <a:t>Interpretacoes: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1847088"/>
            <a:ext cx="4617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2A3A"/>
                </a:solidFill>
              </a:rPr>
              <a:t>Professor de Maceio != Luiza  →  mais um FALSE para Luiza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2A3A"/>
                </a:solidFill>
              </a:rPr>
              <a:t>Com os 4 FALSE, Luiza so pode ser Curitiba  →  Luiza = Curitiba (TRUE)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2A3A"/>
                </a:solidFill>
              </a:rPr>
              <a:t>Chegada Maceio = Chegada Renato - 1  (sera resolvido no Passo 9)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2A3A"/>
                </a:solidFill>
              </a:rPr>
              <a:t>Chegada Maceio = Chegada prof. Partida-2001 + 1  (sera resolvido no Passo 10)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120640" y="822960"/>
            <a:ext cx="3703320" cy="4091940"/>
          </a:xfrm>
          <a:prstGeom prst="rect">
            <a:avLst/>
          </a:prstGeom>
          <a:solidFill>
            <a:srgbClr val="DDE6F1"/>
          </a:solidFill>
          <a:ln w="19050">
            <a:solidFill>
              <a:srgbClr val="9BBAD8"/>
            </a:solidFill>
            <a:prstDash val="sysDash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0" y="268605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56677"/>
                </a:solidFill>
              </a:rPr>
              <a:t>[ Print da Tabela — Passo 3 ]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09728"/>
            <a:ext cx="914400" cy="438912"/>
          </a:xfrm>
          <a:prstGeom prst="roundRect">
            <a:avLst>
              <a:gd name="adj" fmla="val 16667"/>
            </a:avLst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A6E"/>
                </a:solidFill>
              </a:rPr>
              <a:t>PASSO 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25880" y="73152"/>
            <a:ext cx="7726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Quarto Texto — Joao e Recife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822960"/>
            <a:ext cx="45720" cy="640080"/>
          </a:xfrm>
          <a:prstGeom prst="rect">
            <a:avLst/>
          </a:prstGeom>
          <a:solidFill>
            <a:srgbClr val="2E5FAD"/>
          </a:solidFill>
          <a:ln w="12700">
            <a:solidFill>
              <a:srgbClr val="2E5FA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822960"/>
            <a:ext cx="4572000" cy="640080"/>
          </a:xfrm>
          <a:prstGeom prst="rect">
            <a:avLst/>
          </a:prstGeom>
          <a:solidFill>
            <a:srgbClr val="EBF2FB"/>
          </a:solidFill>
          <a:ln w="12700">
            <a:solidFill>
              <a:srgbClr val="EBF2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877824"/>
            <a:ext cx="4361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A2A3A"/>
                </a:solidFill>
              </a:rPr>
              <a:t>Joao deixou a capital onde ensinou ingles um ano antes da pessoa que morou em Recife, mas um ano depois da pessoa contratada em 1995.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1527048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5FAD"/>
                </a:solidFill>
              </a:rPr>
              <a:t>Interpretacoes: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1773936"/>
            <a:ext cx="4617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2A3A"/>
                </a:solidFill>
              </a:rPr>
              <a:t>Partida de Joao = Partida do prof. de Recife - 1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2A3A"/>
                </a:solidFill>
              </a:rPr>
              <a:t>Partida de Joao = Partida do prof. com Chegada 1995 + 1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2A3A"/>
                </a:solidFill>
              </a:rPr>
              <a:t>Joao nao morou em Recife  →  sobram Maceio e Sao Paulo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2A3A"/>
                </a:solidFill>
              </a:rPr>
              <a:t>Relacoes de partida serao resolvidas no Passo 10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120640" y="822960"/>
            <a:ext cx="3703320" cy="4091940"/>
          </a:xfrm>
          <a:prstGeom prst="rect">
            <a:avLst/>
          </a:prstGeom>
          <a:solidFill>
            <a:srgbClr val="DDE6F1"/>
          </a:solidFill>
          <a:ln w="19050">
            <a:solidFill>
              <a:srgbClr val="9BBAD8"/>
            </a:solidFill>
            <a:prstDash val="sysDash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0" y="268605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56677"/>
                </a:solidFill>
              </a:rPr>
              <a:t>[ Print da Tabela — Passo 4 ]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09728"/>
            <a:ext cx="914400" cy="438912"/>
          </a:xfrm>
          <a:prstGeom prst="roundRect">
            <a:avLst>
              <a:gd name="adj" fmla="val 16667"/>
            </a:avLst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A6E"/>
                </a:solidFill>
              </a:rPr>
              <a:t>PASSO 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25880" y="73152"/>
            <a:ext cx="7726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Quinto Texto — Irene e Sao Paulo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822960"/>
            <a:ext cx="45720" cy="685800"/>
          </a:xfrm>
          <a:prstGeom prst="rect">
            <a:avLst/>
          </a:prstGeom>
          <a:solidFill>
            <a:srgbClr val="2E5FAD"/>
          </a:solidFill>
          <a:ln w="12700">
            <a:solidFill>
              <a:srgbClr val="2E5FA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822960"/>
            <a:ext cx="4572000" cy="685800"/>
          </a:xfrm>
          <a:prstGeom prst="rect">
            <a:avLst/>
          </a:prstGeom>
          <a:solidFill>
            <a:srgbClr val="EBF2FB"/>
          </a:solidFill>
          <a:ln w="12700">
            <a:solidFill>
              <a:srgbClr val="EBF2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877824"/>
            <a:ext cx="43616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A2A3A"/>
                </a:solidFill>
              </a:rPr>
              <a:t>A pessoa contratada pelo curso ate 1999 (partida) chegou em uma das capitais dois anos depois da pessoa que foi para Sao Paulo, mas um ano antes de Irene.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1572768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5FAD"/>
                </a:solidFill>
              </a:rPr>
              <a:t>Interpretacoes: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1819656"/>
            <a:ext cx="4617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2A3A"/>
                </a:solidFill>
              </a:rPr>
              <a:t>Chegada do prof. Partida-1999 = Chegada Sao Paulo + 2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2A3A"/>
                </a:solidFill>
              </a:rPr>
              <a:t>Chegada de Irene = Chegada do prof. Partida-1999 + 1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2A3A"/>
                </a:solidFill>
              </a:rPr>
              <a:t>Irene != Sao Paulo  →  Irene pode ser Maceio ou Recife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2A3A"/>
                </a:solidFill>
              </a:rPr>
              <a:t>Cadeia temporal (SP → SP+2 → Irene) sera resolvida no Passo 7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120640" y="822960"/>
            <a:ext cx="3703320" cy="4091940"/>
          </a:xfrm>
          <a:prstGeom prst="rect">
            <a:avLst/>
          </a:prstGeom>
          <a:solidFill>
            <a:srgbClr val="DDE6F1"/>
          </a:solidFill>
          <a:ln w="19050">
            <a:solidFill>
              <a:srgbClr val="9BBAD8"/>
            </a:solidFill>
            <a:prstDash val="sysDash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0" y="268605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56677"/>
                </a:solidFill>
              </a:rPr>
              <a:t>[ Print da Tabela — Passo 5 ]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09728"/>
            <a:ext cx="914400" cy="438912"/>
          </a:xfrm>
          <a:prstGeom prst="roundRect">
            <a:avLst>
              <a:gd name="adj" fmla="val 16667"/>
            </a:avLst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A6E"/>
                </a:solidFill>
              </a:rPr>
              <a:t>PASSO 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25880" y="73152"/>
            <a:ext cx="7726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Sexto Texto — Luiza chegou em 1993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822960"/>
            <a:ext cx="45720" cy="457200"/>
          </a:xfrm>
          <a:prstGeom prst="rect">
            <a:avLst/>
          </a:prstGeom>
          <a:solidFill>
            <a:srgbClr val="2E5FAD"/>
          </a:solidFill>
          <a:ln w="12700">
            <a:solidFill>
              <a:srgbClr val="2E5FA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822960"/>
            <a:ext cx="4572000" cy="457200"/>
          </a:xfrm>
          <a:prstGeom prst="rect">
            <a:avLst/>
          </a:prstGeom>
          <a:solidFill>
            <a:srgbClr val="EBF2FB"/>
          </a:solidFill>
          <a:ln w="12700">
            <a:solidFill>
              <a:srgbClr val="EBF2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877824"/>
            <a:ext cx="4361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A2A3A"/>
                </a:solidFill>
              </a:rPr>
              <a:t>A pessoa que viveu em Curitiba (Luiza) chegou em 1993.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344168"/>
            <a:ext cx="4617720" cy="475488"/>
          </a:xfrm>
          <a:prstGeom prst="rect">
            <a:avLst/>
          </a:prstGeom>
          <a:solidFill>
            <a:srgbClr val="FFF3CD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371600"/>
            <a:ext cx="4434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</a:rPr>
              <a:t>ERRO IDENTIFICADO: </a:t>
            </a:r>
            <a:pPr indent="0" marL="0">
              <a:buNone/>
            </a:pPr>
            <a:r>
              <a:rPr lang="en-US" sz="1000" dirty="0">
                <a:solidFill>
                  <a:srgbClr val="5A3E00"/>
                </a:solidFill>
              </a:rPr>
              <a:t>O TRUE de Chegada 1993 foi marcado na linha de Irene por engano. O correto e marcar na linha de LUIZA.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" y="1892808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5FAD"/>
                </a:solidFill>
              </a:rPr>
              <a:t>Registra-se na tabela (corrigido):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" y="2139696"/>
            <a:ext cx="4617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2A3A"/>
                </a:solidFill>
              </a:rPr>
              <a:t>Luiza: Chegada 1993 = TRUE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2A3A"/>
                </a:solidFill>
              </a:rPr>
              <a:t>Irene, Joao, Marcos, Renato: Chegada 1993 = FALSE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2A3A"/>
                </a:solidFill>
              </a:rPr>
              <a:t>Luiza: Chegada 1994, 1995, 1996, 1997 = FALSE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2A3A"/>
                </a:solidFill>
              </a:rPr>
              <a:t>Secao inferior — Chegada 1993: Curitiba = TRUE, demais = FALSE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2A3A"/>
                </a:solidFill>
              </a:rPr>
              <a:t>Secao inferior — Chegada 1994-1997: Curitiba = FALSE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120640" y="822960"/>
            <a:ext cx="3703320" cy="4091940"/>
          </a:xfrm>
          <a:prstGeom prst="rect">
            <a:avLst/>
          </a:prstGeom>
          <a:solidFill>
            <a:srgbClr val="DDE6F1"/>
          </a:solidFill>
          <a:ln w="19050">
            <a:solidFill>
              <a:srgbClr val="9BBAD8"/>
            </a:solidFill>
            <a:prstDash val="sysDash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120640" y="268605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56677"/>
                </a:solidFill>
              </a:rPr>
              <a:t>[ Print da Tabela — Passo 6 ]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09728"/>
            <a:ext cx="914400" cy="438912"/>
          </a:xfrm>
          <a:prstGeom prst="roundRect">
            <a:avLst>
              <a:gd name="adj" fmla="val 16667"/>
            </a:avLst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A6E"/>
                </a:solidFill>
              </a:rPr>
              <a:t>PASSO 7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25880" y="73152"/>
            <a:ext cx="7726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Quinto Texto revisitado — Cadeia de chegadas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822960"/>
            <a:ext cx="45720" cy="502920"/>
          </a:xfrm>
          <a:prstGeom prst="rect">
            <a:avLst/>
          </a:prstGeom>
          <a:solidFill>
            <a:srgbClr val="2E5FAD"/>
          </a:solidFill>
          <a:ln w="12700">
            <a:solidFill>
              <a:srgbClr val="2E5FA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822960"/>
            <a:ext cx="8458200" cy="502920"/>
          </a:xfrm>
          <a:prstGeom prst="rect">
            <a:avLst/>
          </a:prstGeom>
          <a:solidFill>
            <a:srgbClr val="EBF2FB"/>
          </a:solidFill>
          <a:ln w="12700">
            <a:solidFill>
              <a:srgbClr val="EBF2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877824"/>
            <a:ext cx="8247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A2A3A"/>
                </a:solidFill>
              </a:rPr>
              <a:t>A pessoa contratada ate 1999 chegou dois anos depois de Sao Paulo, mas um ano antes de Irene.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138988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5FAD"/>
                </a:solidFill>
              </a:rPr>
              <a:t>Raciocinando com a ancora de 1993 (Luiza):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1664208"/>
            <a:ext cx="2377440" cy="777240"/>
          </a:xfrm>
          <a:prstGeom prst="rect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" y="170992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Sao Paulo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" y="204825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DEEEE"/>
                </a:solidFill>
              </a:rPr>
              <a:t>Chegada: 1994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97480" y="1920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6677"/>
                </a:solidFill>
              </a:rPr>
              <a:t>+2 anos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154680" y="1664208"/>
            <a:ext cx="2377440" cy="777240"/>
          </a:xfrm>
          <a:prstGeom prst="rect">
            <a:avLst/>
          </a:prstGeom>
          <a:solidFill>
            <a:srgbClr val="2E5FAD"/>
          </a:solidFill>
          <a:ln w="12700">
            <a:solidFill>
              <a:srgbClr val="2E5FA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154680" y="170992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Partida-1999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154680" y="204825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DEEEE"/>
                </a:solidFill>
              </a:rPr>
              <a:t>Chegada: 1996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532120" y="1920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6677"/>
                </a:solidFill>
              </a:rPr>
              <a:t>+1 ano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989320" y="1664208"/>
            <a:ext cx="2377440" cy="777240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989320" y="170992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Irene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89320" y="204825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DEEEE"/>
                </a:solidFill>
              </a:rPr>
              <a:t>Chegada: 1997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0040" y="262432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5FAD"/>
                </a:solidFill>
              </a:rPr>
              <a:t>Por que 1994 e o unico valor possivel para Sao Paulo: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0040" y="2871216"/>
            <a:ext cx="8503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2A3A"/>
                </a:solidFill>
              </a:rPr>
              <a:t>Luiza ocupa 1993  →  SP nao pode ser 1993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2A3A"/>
                </a:solidFill>
              </a:rPr>
              <a:t>Se SP = 1994: Partida-1999 chega em 1996, Irene em 1997  (maximo disponivel)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2A3A"/>
                </a:solidFill>
              </a:rPr>
              <a:t>Se SP = 1995 ou mais: Irene chegaria em 1998+ (fora do intervalo)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09728"/>
            <a:ext cx="914400" cy="438912"/>
          </a:xfrm>
          <a:prstGeom prst="roundRect">
            <a:avLst>
              <a:gd name="adj" fmla="val 16667"/>
            </a:avLst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A6E"/>
                </a:solidFill>
              </a:rPr>
              <a:t>PASSO 7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25880" y="73152"/>
            <a:ext cx="7726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Quinto Texto revisitado — Registros na tabela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0040" y="822960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5FAD"/>
                </a:solidFill>
              </a:rPr>
              <a:t>Conclusoes: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078992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2A3A"/>
                </a:solidFill>
              </a:rPr>
              <a:t>Sao Paulo: Chegada = 1994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2A3A"/>
                </a:solidFill>
              </a:rPr>
              <a:t>Pessoa com Partida 1999: Chegada = 1996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2A3A"/>
                </a:solidFill>
              </a:rPr>
              <a:t>Irene: Chegada = 1997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20040" y="2057400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5FAD"/>
                </a:solidFill>
              </a:rPr>
              <a:t>Registra-se na tabela: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2313432"/>
            <a:ext cx="4617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2A3A"/>
                </a:solidFill>
              </a:rPr>
              <a:t>Irene: Chegada 1997 = TRUE, demais chegadas = FALSE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2A3A"/>
                </a:solidFill>
              </a:rPr>
              <a:t>Joao, Luiza, Marcos, Renato: Chegada 1997 = FALSE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2A3A"/>
                </a:solidFill>
              </a:rPr>
              <a:t>Secao inferior — Chegada 1994: Sao Paulo = TRUE, demais = FALSE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2A3A"/>
                </a:solidFill>
              </a:rPr>
              <a:t>Secao inferior — Chegada 1995/1996/1997: Sao Paulo = FALSE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120640" y="822960"/>
            <a:ext cx="3703320" cy="4091940"/>
          </a:xfrm>
          <a:prstGeom prst="rect">
            <a:avLst/>
          </a:prstGeom>
          <a:solidFill>
            <a:srgbClr val="DDE6F1"/>
          </a:solidFill>
          <a:ln w="19050">
            <a:solidFill>
              <a:srgbClr val="9BBAD8"/>
            </a:solidFill>
            <a:prstDash val="sysDash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120640" y="268605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56677"/>
                </a:solidFill>
              </a:rPr>
              <a:t>[ Print da Tabela — Passo 7 ]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09728"/>
            <a:ext cx="914400" cy="438912"/>
          </a:xfrm>
          <a:prstGeom prst="roundRect">
            <a:avLst>
              <a:gd name="adj" fmla="val 16667"/>
            </a:avLst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A6E"/>
                </a:solidFill>
              </a:rPr>
              <a:t>PASSO 8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25880" y="73152"/>
            <a:ext cx="7726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Segundo Texto revisitado — Renato chega em 1996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822960"/>
            <a:ext cx="45720" cy="457200"/>
          </a:xfrm>
          <a:prstGeom prst="rect">
            <a:avLst/>
          </a:prstGeom>
          <a:solidFill>
            <a:srgbClr val="2E5FAD"/>
          </a:solidFill>
          <a:ln w="12700">
            <a:solidFill>
              <a:srgbClr val="2E5FA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822960"/>
            <a:ext cx="4572000" cy="457200"/>
          </a:xfrm>
          <a:prstGeom prst="rect">
            <a:avLst/>
          </a:prstGeom>
          <a:solidFill>
            <a:srgbClr val="EBF2FB"/>
          </a:solidFill>
          <a:ln w="12700">
            <a:solidFill>
              <a:srgbClr val="EBF2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877824"/>
            <a:ext cx="4361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A2A3A"/>
                </a:solidFill>
              </a:rPr>
              <a:t>Renato morou durante tres anos no Rio de Janeiro.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1344168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5FAD"/>
                </a:solidFill>
              </a:rPr>
              <a:t>Deducao-chave: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1600200"/>
            <a:ext cx="4617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2A3A"/>
                </a:solidFill>
              </a:rPr>
              <a:t>A pessoa com Partida 1999 chegou em 1996  (descoberto no Passo 7)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2A3A"/>
                </a:solidFill>
              </a:rPr>
              <a:t>Duracao = 1999 - 1996 = 3 anos  →  coincide exatamente com Renato!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2A3A"/>
                </a:solidFill>
              </a:rPr>
              <a:t>Portanto: Renato chegou em 1996 e partiu em 1999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" y="2788920"/>
            <a:ext cx="4617720" cy="640080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29768" y="2852928"/>
            <a:ext cx="4434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A6E"/>
                </a:solidFill>
              </a:rPr>
              <a:t>Renato</a:t>
            </a:r>
            <a:pPr indent="0" marL="0">
              <a:buNone/>
            </a:pPr>
            <a:r>
              <a:rPr lang="en-US" sz="1200" dirty="0">
                <a:solidFill>
                  <a:srgbClr val="1A2A3A"/>
                </a:solidFill>
              </a:rPr>
              <a:t> — Rio de Janeiro  |  Chegada: 1996  |  Partida: 1999  |  Duracao: 3 anos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120640" y="822960"/>
            <a:ext cx="3703320" cy="4091940"/>
          </a:xfrm>
          <a:prstGeom prst="rect">
            <a:avLst/>
          </a:prstGeom>
          <a:solidFill>
            <a:srgbClr val="DDE6F1"/>
          </a:solidFill>
          <a:ln w="19050">
            <a:solidFill>
              <a:srgbClr val="9BBAD8"/>
            </a:solidFill>
            <a:prstDash val="sysDash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120640" y="268605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56677"/>
                </a:solidFill>
              </a:rPr>
              <a:t>[ Print da Tabela — Passo 8 ]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09728"/>
            <a:ext cx="914400" cy="438912"/>
          </a:xfrm>
          <a:prstGeom prst="roundRect">
            <a:avLst>
              <a:gd name="adj" fmla="val 16667"/>
            </a:avLst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A6E"/>
                </a:solidFill>
              </a:rPr>
              <a:t>PASSO 9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25880" y="73152"/>
            <a:ext cx="7726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Terceiro Texto revisitado — Maceio, Recife e Irene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822960"/>
            <a:ext cx="45720" cy="640080"/>
          </a:xfrm>
          <a:prstGeom prst="rect">
            <a:avLst/>
          </a:prstGeom>
          <a:solidFill>
            <a:srgbClr val="2E5FAD"/>
          </a:solidFill>
          <a:ln w="12700">
            <a:solidFill>
              <a:srgbClr val="2E5FA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822960"/>
            <a:ext cx="8458200" cy="640080"/>
          </a:xfrm>
          <a:prstGeom prst="rect">
            <a:avLst/>
          </a:prstGeom>
          <a:solidFill>
            <a:srgbClr val="EBF2FB"/>
          </a:solidFill>
          <a:ln w="12700">
            <a:solidFill>
              <a:srgbClr val="EBF2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877824"/>
            <a:ext cx="8247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A2A3A"/>
                </a:solidFill>
              </a:rPr>
              <a:t>A pessoa que foi para Maceio (nao e Luiza) chegou um ano antes de Renato, mas um ano depois da pessoa cujo contrato terminou em 2001.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152704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5FAD"/>
                </a:solidFill>
              </a:rPr>
              <a:t>Deducoes: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1783080"/>
            <a:ext cx="8503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</a:rPr>
              <a:t>Chegada Maceio = Chegada Renato - 1 = 1996 - 1 = 1995</a:t>
            </a:r>
            <a:endParaRPr lang="en-US" sz="110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</a:rPr>
              <a:t>Anos definidos: 1993 (Curitiba), 1994 (SP), 1995 (Maceio), 1996 (Rio), 1997 (restante = Recife)</a:t>
            </a:r>
            <a:endParaRPr lang="en-US" sz="110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</a:rPr>
              <a:t>Irene chegou em 1997 e Recife chegou em 1997  →  Irene = Recife</a:t>
            </a:r>
            <a:endParaRPr lang="en-US" sz="110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</a:rPr>
              <a:t>Se Joao = Maceio (1995): Texto 4 diria que Joao partiu 1 ano apos si mesmo (contradicao!)</a:t>
            </a:r>
            <a:endParaRPr lang="en-US" sz="110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</a:rPr>
              <a:t>Portanto: Joao = Sao Paulo (chegada 1994)  e  Marcos = Maceio (chegada 1995)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09728"/>
            <a:ext cx="914400" cy="438912"/>
          </a:xfrm>
          <a:prstGeom prst="roundRect">
            <a:avLst>
              <a:gd name="adj" fmla="val 16667"/>
            </a:avLst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A6E"/>
                </a:solidFill>
              </a:rPr>
              <a:t>PASSO 9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25880" y="73152"/>
            <a:ext cx="7726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Terceiro Texto revisitado — Registros na tabela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0040" y="822960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5FAD"/>
                </a:solidFill>
              </a:rPr>
              <a:t>Conclusoes: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078992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2A3A"/>
                </a:solidFill>
              </a:rPr>
              <a:t>Marcos = Maceio, Chegada 1995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2A3A"/>
                </a:solidFill>
              </a:rPr>
              <a:t>Irene = Recife, Chegada 1997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2A3A"/>
                </a:solidFill>
              </a:rPr>
              <a:t>Joao = Sao Paulo, Chegada 1994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20040" y="2011680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5FAD"/>
                </a:solidFill>
              </a:rPr>
              <a:t>Registra-se na tabela: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2267712"/>
            <a:ext cx="4617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2A3A"/>
                </a:solidFill>
              </a:rPr>
              <a:t>Marcos: Maceio = TRUE, demais capitais = FALSE; Chegada 1995 = TRUE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2A3A"/>
                </a:solidFill>
              </a:rPr>
              <a:t>Irene: Recife = TRUE, demais capitais = FALSE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2A3A"/>
                </a:solidFill>
              </a:rPr>
              <a:t>Joao: Sao Paulo = TRUE, demais capitais = FALSE; Chegada 1994 = TRUE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2A3A"/>
                </a:solidFill>
              </a:rPr>
              <a:t>Secao inferior — Chegada 1995: Maceio = TRUE | Chegada 1997: Recife = TRUE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120640" y="822960"/>
            <a:ext cx="3703320" cy="4091940"/>
          </a:xfrm>
          <a:prstGeom prst="rect">
            <a:avLst/>
          </a:prstGeom>
          <a:solidFill>
            <a:srgbClr val="DDE6F1"/>
          </a:solidFill>
          <a:ln w="19050">
            <a:solidFill>
              <a:srgbClr val="9BBAD8"/>
            </a:solidFill>
            <a:prstDash val="sysDash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120640" y="268605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56677"/>
                </a:solidFill>
              </a:rPr>
              <a:t>[ Print da Tabela — Passo 9 ]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09728"/>
            <a:ext cx="914400" cy="438912"/>
          </a:xfrm>
          <a:prstGeom prst="roundRect">
            <a:avLst>
              <a:gd name="adj" fmla="val 16667"/>
            </a:avLst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A6E"/>
                </a:solidFill>
              </a:rPr>
              <a:t>PASSO 10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25880" y="73152"/>
            <a:ext cx="7726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Textos 3 e 4 — Determinando as Partidas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822960"/>
            <a:ext cx="40233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8778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6E"/>
                </a:solidFill>
              </a:rPr>
              <a:t>Texto 3 — Segunda parte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170432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2A3A"/>
                </a:solidFill>
              </a:rPr>
              <a:t>Chegada Maceio = Chegada prof. Partida-2001 + 1</a:t>
            </a:r>
            <a:endParaRPr lang="en-US" sz="10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2A3A"/>
                </a:solidFill>
              </a:rPr>
              <a:t>1995 = Chegada prof. Partida-2001 + 1</a:t>
            </a:r>
            <a:endParaRPr lang="en-US" sz="10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2A3A"/>
                </a:solidFill>
              </a:rPr>
              <a:t>Chegada prof. Partida-2001 = 1994  →  esse e Joao</a:t>
            </a:r>
            <a:endParaRPr lang="en-US" sz="10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2A3A"/>
                </a:solidFill>
              </a:rPr>
              <a:t>Joao: Partida = 2001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0" y="822960"/>
            <a:ext cx="42519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63440" y="877824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6E"/>
                </a:solidFill>
              </a:rPr>
              <a:t>Texto 4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63440" y="1170432"/>
            <a:ext cx="4069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2A3A"/>
                </a:solidFill>
              </a:rPr>
              <a:t>Joao partiu 1 ano antes de Irene (Recife)</a:t>
            </a:r>
            <a:endParaRPr lang="en-US" sz="10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2A3A"/>
                </a:solidFill>
              </a:rPr>
              <a:t>2001 = Partida Irene - 1  →  Irene: Partida = 2002</a:t>
            </a:r>
            <a:endParaRPr lang="en-US" sz="10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2A3A"/>
                </a:solidFill>
              </a:rPr>
              <a:t>Joao partiu 1 ano apos o prof. chegada-1995 (Marcos)</a:t>
            </a:r>
            <a:endParaRPr lang="en-US" sz="10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2A3A"/>
                </a:solidFill>
              </a:rPr>
              <a:t>2001 = Partida Marcos + 1  →  Marcos: Partida = 2000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20040" y="285292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5FAD"/>
                </a:solidFill>
              </a:rPr>
              <a:t>Conclusoes: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3108960"/>
            <a:ext cx="2468880" cy="548640"/>
          </a:xfrm>
          <a:prstGeom prst="rect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0040" y="31089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Joao — Partida 2001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063240" y="3108960"/>
            <a:ext cx="2468880" cy="548640"/>
          </a:xfrm>
          <a:prstGeom prst="rect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063240" y="31089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Marcos — Partida 2000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806440" y="3108960"/>
            <a:ext cx="2468880" cy="548640"/>
          </a:xfrm>
          <a:prstGeom prst="rect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806440" y="31089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Irene — Partida 2002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09728"/>
            <a:ext cx="914400" cy="438912"/>
          </a:xfrm>
          <a:prstGeom prst="roundRect">
            <a:avLst>
              <a:gd name="adj" fmla="val 16667"/>
            </a:avLst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A6E"/>
                </a:solidFill>
              </a:rPr>
              <a:t>PASSO 10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25880" y="73152"/>
            <a:ext cx="7726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Textos 3 e 4 — Registros na tabela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0040" y="822960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5FAD"/>
                </a:solidFill>
              </a:rPr>
              <a:t>Registra-se na tabela: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078992"/>
            <a:ext cx="4617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2A3A"/>
                </a:solidFill>
              </a:rPr>
              <a:t>Secao inferior — Partida 2001: Sao Paulo = TRUE, demais = FALSE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2A3A"/>
                </a:solidFill>
              </a:rPr>
              <a:t>Secao inferior — Partida 2000: Maceio = TRUE, demais = FALSE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2A3A"/>
                </a:solidFill>
              </a:rPr>
              <a:t>Secao inferior — Partida 2002: Recife = TRUE, demais = FALSE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2A3A"/>
                </a:solidFill>
              </a:rPr>
              <a:t>Professores: Joao Partida 2001 = TRUE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2A3A"/>
                </a:solidFill>
              </a:rPr>
              <a:t>Professores: Marcos Partida 2000 = TRUE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2A3A"/>
                </a:solidFill>
              </a:rPr>
              <a:t>Professores: Irene Partida 2002 = TRUE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120640" y="822960"/>
            <a:ext cx="3703320" cy="4091940"/>
          </a:xfrm>
          <a:prstGeom prst="rect">
            <a:avLst/>
          </a:prstGeom>
          <a:solidFill>
            <a:srgbClr val="DDE6F1"/>
          </a:solidFill>
          <a:ln w="19050">
            <a:solidFill>
              <a:srgbClr val="9BBAD8"/>
            </a:solidFill>
            <a:prstDash val="sysDash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120640" y="268605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56677"/>
                </a:solidFill>
              </a:rPr>
              <a:t>[ Print da Tabela — Passo 10 ]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09728"/>
            <a:ext cx="914400" cy="438912"/>
          </a:xfrm>
          <a:prstGeom prst="roundRect">
            <a:avLst>
              <a:gd name="adj" fmla="val 16667"/>
            </a:avLst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09728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A6E"/>
                </a:solidFill>
              </a:rPr>
              <a:t>PASSO 11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25880" y="73152"/>
            <a:ext cx="7726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Primeiro Texto revisitado — Partida de Luiza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822960"/>
            <a:ext cx="45720" cy="566928"/>
          </a:xfrm>
          <a:prstGeom prst="rect">
            <a:avLst/>
          </a:prstGeom>
          <a:solidFill>
            <a:srgbClr val="2E5FAD"/>
          </a:solidFill>
          <a:ln w="12700">
            <a:solidFill>
              <a:srgbClr val="2E5FA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822960"/>
            <a:ext cx="4572000" cy="566928"/>
          </a:xfrm>
          <a:prstGeom prst="rect">
            <a:avLst/>
          </a:prstGeom>
          <a:solidFill>
            <a:srgbClr val="EBF2FB"/>
          </a:solidFill>
          <a:ln w="12700">
            <a:solidFill>
              <a:srgbClr val="EBF2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877824"/>
            <a:ext cx="4361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1A2A3A"/>
                </a:solidFill>
              </a:rPr>
              <a:t>Luiza viveu dois anos a menos em uma das capitais do que a pessoa que passou um tempo em Sao Paulo.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463040"/>
            <a:ext cx="4617720" cy="475488"/>
          </a:xfrm>
          <a:prstGeom prst="rect">
            <a:avLst/>
          </a:prstGeom>
          <a:solidFill>
            <a:srgbClr val="FFF3CD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490472"/>
            <a:ext cx="4434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</a:rPr>
              <a:t>ATENCAO — Erro comum: </a:t>
            </a:r>
            <a:pPr indent="0" marL="0">
              <a:buNone/>
            </a:pPr>
            <a:r>
              <a:rPr lang="en-US" sz="1000" dirty="0">
                <a:solidFill>
                  <a:srgbClr val="5A3E00"/>
                </a:solidFill>
              </a:rPr>
              <a:t>Nao subtrair 2 do ano de partida! (2001-2 = 1999 e ERRADO). O calculo e sobre duracao.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" y="2011680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5FAD"/>
                </a:solidFill>
              </a:rPr>
              <a:t>Calculo correto (via duracao):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" y="2267712"/>
            <a:ext cx="4617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2A3A"/>
                </a:solidFill>
              </a:rPr>
              <a:t>Joao (Sao Paulo): 2001 - 1994 = 7 anos de duracao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2A3A"/>
                </a:solidFill>
              </a:rPr>
              <a:t>Luiza viveu 2 anos a menos: 7 - 2 = 5 anos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2A3A"/>
                </a:solidFill>
              </a:rPr>
              <a:t>Luiza: Chegada 1993 + 5 anos = Partida 1998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0040" y="3429000"/>
            <a:ext cx="4617720" cy="548640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29768" y="3456432"/>
            <a:ext cx="4434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20"/>
                </a:solidFill>
              </a:rPr>
              <a:t>Luiza — Curitiba | Chegada: 1993 | Partida: 1998 | Duracao: 5 anos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120640" y="822960"/>
            <a:ext cx="3703320" cy="4091940"/>
          </a:xfrm>
          <a:prstGeom prst="rect">
            <a:avLst/>
          </a:prstGeom>
          <a:solidFill>
            <a:srgbClr val="DDE6F1"/>
          </a:solidFill>
          <a:ln w="19050">
            <a:solidFill>
              <a:srgbClr val="9BBAD8"/>
            </a:solidFill>
            <a:prstDash val="sysDash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120640" y="268605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56677"/>
                </a:solidFill>
              </a:rPr>
              <a:t>[ Print da Tabela — Passo 11 ]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F3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823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6E"/>
                </a:solidFill>
              </a:rPr>
              <a:t>Resultado Final</a:t>
            </a:r>
            <a:endParaRPr lang="en-US" sz="2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80160" y="914400"/>
          <a:ext cx="6583680" cy="3017520"/>
        </p:xfrm>
        <a:graphic>
          <a:graphicData uri="http://schemas.openxmlformats.org/drawingml/2006/table">
            <a:tbl>
              <a:tblPr/>
              <a:tblGrid>
                <a:gridCol w="1554480"/>
                <a:gridCol w="2194560"/>
                <a:gridCol w="1417320"/>
                <a:gridCol w="141732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Professor</a:t>
                      </a:r>
                      <a:endParaRPr lang="en-US" sz="1300" dirty="0"/>
                    </a:p>
                  </a:txBody>
                  <a:tcPr marL="50800" marR="50800" marT="76200" marB="76200" anchor="ctr">
                    <a:lnL w="1270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Capital</a:t>
                      </a:r>
                      <a:endParaRPr lang="en-US" sz="1300" dirty="0"/>
                    </a:p>
                  </a:txBody>
                  <a:tcPr marL="50800" marR="50800" marT="76200" marB="76200" anchor="ctr">
                    <a:lnL w="1270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Chegada</a:t>
                      </a:r>
                      <a:endParaRPr lang="en-US" sz="1300" dirty="0"/>
                    </a:p>
                  </a:txBody>
                  <a:tcPr marL="50800" marR="50800" marT="76200" marB="76200" anchor="ctr">
                    <a:lnL w="1270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Partida</a:t>
                      </a:r>
                      <a:endParaRPr lang="en-US" sz="1300" dirty="0"/>
                    </a:p>
                  </a:txBody>
                  <a:tcPr marL="50800" marR="50800" marT="76200" marB="76200" anchor="ctr">
                    <a:lnL w="1270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A3A"/>
                          </a:solidFill>
                        </a:rPr>
                        <a:t>Luiza</a:t>
                      </a:r>
                      <a:endParaRPr lang="en-US" sz="1300" dirty="0"/>
                    </a:p>
                  </a:txBody>
                  <a:tcPr marL="50800" marR="50800" marT="76200" marB="76200" anchor="ctr">
                    <a:lnL w="1270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A3A"/>
                          </a:solidFill>
                        </a:rPr>
                        <a:t>Curitiba</a:t>
                      </a:r>
                      <a:endParaRPr lang="en-US" sz="1300" dirty="0"/>
                    </a:p>
                  </a:txBody>
                  <a:tcPr marL="50800" marR="50800" marT="76200" marB="76200" anchor="ctr">
                    <a:lnL w="1270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A3A"/>
                          </a:solidFill>
                        </a:rPr>
                        <a:t>1993</a:t>
                      </a:r>
                      <a:endParaRPr lang="en-US" sz="1300" dirty="0"/>
                    </a:p>
                  </a:txBody>
                  <a:tcPr marL="50800" marR="50800" marT="76200" marB="76200" anchor="ctr">
                    <a:lnL w="1270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A3A"/>
                          </a:solidFill>
                        </a:rPr>
                        <a:t>1998</a:t>
                      </a:r>
                      <a:endParaRPr lang="en-US" sz="1300" dirty="0"/>
                    </a:p>
                  </a:txBody>
                  <a:tcPr marL="50800" marR="50800" marT="76200" marB="76200" anchor="ctr">
                    <a:lnL w="1270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A3A"/>
                          </a:solidFill>
                        </a:rPr>
                        <a:t>Joao</a:t>
                      </a:r>
                      <a:endParaRPr lang="en-US" sz="1300" dirty="0"/>
                    </a:p>
                  </a:txBody>
                  <a:tcPr marL="50800" marR="50800" marT="76200" marB="76200" anchor="ctr">
                    <a:lnL w="1270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A3A"/>
                          </a:solidFill>
                        </a:rPr>
                        <a:t>Sao Paulo</a:t>
                      </a:r>
                      <a:endParaRPr lang="en-US" sz="1300" dirty="0"/>
                    </a:p>
                  </a:txBody>
                  <a:tcPr marL="50800" marR="50800" marT="76200" marB="76200" anchor="ctr">
                    <a:lnL w="1270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A3A"/>
                          </a:solidFill>
                        </a:rPr>
                        <a:t>1994</a:t>
                      </a:r>
                      <a:endParaRPr lang="en-US" sz="1300" dirty="0"/>
                    </a:p>
                  </a:txBody>
                  <a:tcPr marL="50800" marR="50800" marT="76200" marB="76200" anchor="ctr">
                    <a:lnL w="1270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A3A"/>
                          </a:solidFill>
                        </a:rPr>
                        <a:t>2001</a:t>
                      </a:r>
                      <a:endParaRPr lang="en-US" sz="1300" dirty="0"/>
                    </a:p>
                  </a:txBody>
                  <a:tcPr marL="50800" marR="50800" marT="76200" marB="76200" anchor="ctr">
                    <a:lnL w="1270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A3A"/>
                          </a:solidFill>
                        </a:rPr>
                        <a:t>Marcos</a:t>
                      </a:r>
                      <a:endParaRPr lang="en-US" sz="1300" dirty="0"/>
                    </a:p>
                  </a:txBody>
                  <a:tcPr marL="50800" marR="50800" marT="76200" marB="76200" anchor="ctr">
                    <a:lnL w="1270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A3A"/>
                          </a:solidFill>
                        </a:rPr>
                        <a:t>Maceio</a:t>
                      </a:r>
                      <a:endParaRPr lang="en-US" sz="1300" dirty="0"/>
                    </a:p>
                  </a:txBody>
                  <a:tcPr marL="50800" marR="50800" marT="76200" marB="76200" anchor="ctr">
                    <a:lnL w="1270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A3A"/>
                          </a:solidFill>
                        </a:rPr>
                        <a:t>1995</a:t>
                      </a:r>
                      <a:endParaRPr lang="en-US" sz="1300" dirty="0"/>
                    </a:p>
                  </a:txBody>
                  <a:tcPr marL="50800" marR="50800" marT="76200" marB="76200" anchor="ctr">
                    <a:lnL w="1270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A3A"/>
                          </a:solidFill>
                        </a:rPr>
                        <a:t>2000</a:t>
                      </a:r>
                      <a:endParaRPr lang="en-US" sz="1300" dirty="0"/>
                    </a:p>
                  </a:txBody>
                  <a:tcPr marL="50800" marR="50800" marT="76200" marB="76200" anchor="ctr">
                    <a:lnL w="1270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A3A"/>
                          </a:solidFill>
                        </a:rPr>
                        <a:t>Renato</a:t>
                      </a:r>
                      <a:endParaRPr lang="en-US" sz="1300" dirty="0"/>
                    </a:p>
                  </a:txBody>
                  <a:tcPr marL="50800" marR="50800" marT="76200" marB="76200" anchor="ctr">
                    <a:lnL w="1270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A3A"/>
                          </a:solidFill>
                        </a:rPr>
                        <a:t>Rio de Janeiro</a:t>
                      </a:r>
                      <a:endParaRPr lang="en-US" sz="1300" dirty="0"/>
                    </a:p>
                  </a:txBody>
                  <a:tcPr marL="50800" marR="50800" marT="76200" marB="76200" anchor="ctr">
                    <a:lnL w="1270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A3A"/>
                          </a:solidFill>
                        </a:rPr>
                        <a:t>1996</a:t>
                      </a:r>
                      <a:endParaRPr lang="en-US" sz="1300" dirty="0"/>
                    </a:p>
                  </a:txBody>
                  <a:tcPr marL="50800" marR="50800" marT="76200" marB="76200" anchor="ctr">
                    <a:lnL w="1270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A3A"/>
                          </a:solidFill>
                        </a:rPr>
                        <a:t>1999</a:t>
                      </a:r>
                      <a:endParaRPr lang="en-US" sz="1300" dirty="0"/>
                    </a:p>
                  </a:txBody>
                  <a:tcPr marL="50800" marR="50800" marT="76200" marB="76200" anchor="ctr">
                    <a:lnL w="1270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A3A"/>
                          </a:solidFill>
                        </a:rPr>
                        <a:t>Irene</a:t>
                      </a:r>
                      <a:endParaRPr lang="en-US" sz="1300" dirty="0"/>
                    </a:p>
                  </a:txBody>
                  <a:tcPr marL="50800" marR="50800" marT="76200" marB="76200" anchor="ctr">
                    <a:lnL w="1270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A3A"/>
                          </a:solidFill>
                        </a:rPr>
                        <a:t>Recife</a:t>
                      </a:r>
                      <a:endParaRPr lang="en-US" sz="1300" dirty="0"/>
                    </a:p>
                  </a:txBody>
                  <a:tcPr marL="50800" marR="50800" marT="76200" marB="76200" anchor="ctr">
                    <a:lnL w="1270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A3A"/>
                          </a:solidFill>
                        </a:rPr>
                        <a:t>1997</a:t>
                      </a:r>
                      <a:endParaRPr lang="en-US" sz="1300" dirty="0"/>
                    </a:p>
                  </a:txBody>
                  <a:tcPr marL="50800" marR="50800" marT="76200" marB="76200" anchor="ctr">
                    <a:lnL w="1270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2A3A"/>
                          </a:solidFill>
                        </a:rPr>
                        <a:t>2002</a:t>
                      </a:r>
                      <a:endParaRPr lang="en-US" sz="1300" dirty="0"/>
                    </a:p>
                  </a:txBody>
                  <a:tcPr marL="50800" marR="50800" marT="76200" marB="76200" anchor="ctr">
                    <a:lnL w="1270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20040" y="468630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0A500"/>
                </a:solidFill>
              </a:rPr>
              <a:t>Todos os 6 textos verificados e consistentes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Logica Passo a Passo - Atividade de Algoritmo</dc:title>
  <dc:subject>PptxGenJS Presentation</dc:subject>
  <dc:creator>PptxGenJS</dc:creator>
  <cp:lastModifiedBy>PptxGenJS</cp:lastModifiedBy>
  <cp:revision>1</cp:revision>
  <dcterms:created xsi:type="dcterms:W3CDTF">2026-03-22T12:56:20Z</dcterms:created>
  <dcterms:modified xsi:type="dcterms:W3CDTF">2026-03-22T12:56:20Z</dcterms:modified>
</cp:coreProperties>
</file>